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BM Plex Sans Medium" panose="020B0603050203000203" pitchFamily="34" charset="0"/>
      <p:regular r:id="rId18"/>
      <p:italic r:id="rId19"/>
    </p:embeddedFont>
    <p:embeddedFont>
      <p:font typeface="Roboto" panose="02000000000000000000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42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2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3.png"/><Relationship Id="rId20" Type="http://schemas.openxmlformats.org/officeDocument/2006/relationships/image" Target="../media/image37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97695" y="357604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Online Secure Bank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3600" i="1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Secure Software Development</a:t>
            </a:r>
            <a:endParaRPr lang="en-US" sz="3600" i="1" dirty="0"/>
          </a:p>
        </p:txBody>
      </p:sp>
      <p:sp>
        <p:nvSpPr>
          <p:cNvPr id="4" name="Text 1"/>
          <p:cNvSpPr/>
          <p:nvPr/>
        </p:nvSpPr>
        <p:spPr>
          <a:xfrm>
            <a:off x="62801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11371A-85FA-9D80-1C2C-12637DCC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825" y="7606430"/>
            <a:ext cx="1686160" cy="62316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EF3149A-B002-CC57-0364-27C84A3A9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5137"/>
            <a:ext cx="5811252" cy="367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F76448D-6DF6-0C20-7CEA-FA9F14E5A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567" y="4114800"/>
            <a:ext cx="5811252" cy="3930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12890"/>
            <a:ext cx="760095" cy="426244"/>
          </a:xfrm>
          <a:prstGeom prst="roundRect">
            <a:avLst>
              <a:gd name="adj" fmla="val 6386"/>
            </a:avLst>
          </a:prstGeom>
          <a:solidFill>
            <a:srgbClr val="4D1F0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80874"/>
            <a:ext cx="4879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89973" y="1277155"/>
            <a:ext cx="72505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Our Dedicated Project Team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22" y="2829280"/>
            <a:ext cx="2411968" cy="2411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3022" y="55247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Awais Asif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263022" y="608611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Uw-23-cy-bs-010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677996" y="55247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itchFamily="34" charset="0"/>
              </a:rPr>
              <a:t>Seemab Khan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9677996" y="608611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Uw-23-cy-bs-005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438" y="2829280"/>
            <a:ext cx="2411968" cy="24119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74438" y="55247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Rubaiqa Pervez</a:t>
            </a:r>
            <a:endParaRPr lang="en-US" sz="2650" dirty="0"/>
          </a:p>
        </p:txBody>
      </p:sp>
      <p:sp>
        <p:nvSpPr>
          <p:cNvPr id="13" name="Text 8"/>
          <p:cNvSpPr/>
          <p:nvPr/>
        </p:nvSpPr>
        <p:spPr>
          <a:xfrm>
            <a:off x="5274438" y="608611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Uw-23-cy-bs-020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93790" y="66536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AD497E-A49C-0E7D-F6AC-2B587D0E0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6825" y="7606431"/>
            <a:ext cx="1686160" cy="476316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7600FD07-F412-9208-670E-0078BE1C4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6" y="2829280"/>
            <a:ext cx="2411968" cy="24119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5AF143-6358-E5E7-16CD-AAD46517D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6825" y="7606430"/>
            <a:ext cx="1686160" cy="6231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607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Addressing Critical Security Gaps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22533"/>
            <a:ext cx="35015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banking systems often suffer from inherent vulnerabilities that expose customer data and financial assets to significant risks. Our project directly tackles these pervasive issues, laying the groundwork for a more secure digital banking future.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0342721" y="3122533"/>
            <a:ext cx="3501509" cy="3629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Authentication: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Exploitable login mechanisms.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Insecure Password Storage: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Vulnerable user credentials.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Threat-Aware Design: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Systems built without security in mind.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Increased Cyber Attack Risk: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Banking systems are prime targets.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C746E0-AE39-6B01-809F-D2965119B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6825" y="7606431"/>
            <a:ext cx="1686160" cy="476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AD9CA6-4193-7B15-EB61-5EB34CC4C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6825" y="7606430"/>
            <a:ext cx="1686160" cy="6231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283" y="715268"/>
            <a:ext cx="6146138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Objectives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5925" y="1753791"/>
            <a:ext cx="473035" cy="473035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4" name="Text 2"/>
          <p:cNvSpPr/>
          <p:nvPr/>
        </p:nvSpPr>
        <p:spPr>
          <a:xfrm>
            <a:off x="814685" y="1793141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403866" y="1826062"/>
            <a:ext cx="409539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Implement Robust Authentication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03866" y="2271593"/>
            <a:ext cx="1249060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all user access is verified through strong, multi-factor mechanisms.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5925" y="2985492"/>
            <a:ext cx="473035" cy="473035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8" name="Text 6"/>
          <p:cNvSpPr/>
          <p:nvPr/>
        </p:nvSpPr>
        <p:spPr>
          <a:xfrm>
            <a:off x="814685" y="3024842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403866" y="3057763"/>
            <a:ext cx="26645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Protect Sensitive Data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403866" y="3503295"/>
            <a:ext cx="1249060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Utilise advanced hashing techniques like SHA-256 for all critical information, ensuring data integrity and confidentiality.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35925" y="4217194"/>
            <a:ext cx="473035" cy="473035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2" name="Text 10"/>
          <p:cNvSpPr/>
          <p:nvPr/>
        </p:nvSpPr>
        <p:spPr>
          <a:xfrm>
            <a:off x="814685" y="4256544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1403866" y="4289465"/>
            <a:ext cx="368915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Apply STRIDE Threat Modeling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403866" y="4734997"/>
            <a:ext cx="1249060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Systematically identify and mitigate potential security threats throughout the development lifecycle.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5925" y="5448895"/>
            <a:ext cx="473035" cy="473035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6" name="Text 14"/>
          <p:cNvSpPr/>
          <p:nvPr/>
        </p:nvSpPr>
        <p:spPr>
          <a:xfrm>
            <a:off x="814685" y="5488245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1403866" y="5521166"/>
            <a:ext cx="304430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Validate System Integrity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403866" y="5966698"/>
            <a:ext cx="1249060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Thoroughly test all components using a comprehensive unit testing framework to guarantee reliability and security.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35925" y="6680597"/>
            <a:ext cx="473035" cy="473035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85" y="6719947"/>
            <a:ext cx="315397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</a:t>
            </a:r>
            <a:endParaRPr lang="en-US" sz="2450" dirty="0"/>
          </a:p>
        </p:txBody>
      </p:sp>
      <p:sp>
        <p:nvSpPr>
          <p:cNvPr id="21" name="Text 19"/>
          <p:cNvSpPr/>
          <p:nvPr/>
        </p:nvSpPr>
        <p:spPr>
          <a:xfrm>
            <a:off x="1403866" y="6752868"/>
            <a:ext cx="27646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Adhere to Secure SDLC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403866" y="7198400"/>
            <a:ext cx="12490609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security considerations into every phase of the Software Development Life Cycle.</a:t>
            </a:r>
            <a:endParaRPr lang="en-US" sz="16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1E80159-5C76-F738-B770-DD5D82D8C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825" y="7606431"/>
            <a:ext cx="1686160" cy="4763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8C9C551-F017-1866-5B3F-652392B8E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825" y="7606430"/>
            <a:ext cx="1686160" cy="623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4791" y="639410"/>
            <a:ext cx="5874663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Overview: A Secure Foundation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944789" y="1179717"/>
            <a:ext cx="8227219" cy="839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Online Secure Bank project is primarily a backend-focused application, engineered from the ground up for maximum security. It establishes a secure environment where user authentication is paramount before any access to banking functionalities is granted.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944791" y="2179320"/>
            <a:ext cx="8227219" cy="1145619"/>
          </a:xfrm>
          <a:prstGeom prst="roundRect">
            <a:avLst>
              <a:gd name="adj" fmla="val 1715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075700" y="2306004"/>
            <a:ext cx="392906" cy="392906"/>
          </a:xfrm>
          <a:prstGeom prst="roundRect">
            <a:avLst>
              <a:gd name="adj" fmla="val 23270415"/>
            </a:avLst>
          </a:prstGeom>
          <a:solidFill>
            <a:srgbClr val="FFBC8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3749" y="2418278"/>
            <a:ext cx="176808" cy="1768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8948" y="2501742"/>
            <a:ext cx="163746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Backend-Focused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075759" y="3028712"/>
            <a:ext cx="7965281" cy="165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logic and data handling are secured.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5944791" y="3400544"/>
            <a:ext cx="8227219" cy="1145619"/>
          </a:xfrm>
          <a:prstGeom prst="roundRect">
            <a:avLst>
              <a:gd name="adj" fmla="val 1715"/>
            </a:avLst>
          </a:prstGeom>
          <a:solidFill>
            <a:srgbClr val="484B51"/>
          </a:solidFill>
          <a:ln/>
        </p:spPr>
      </p:sp>
      <p:sp>
        <p:nvSpPr>
          <p:cNvPr id="11" name="Shape 7"/>
          <p:cNvSpPr/>
          <p:nvPr/>
        </p:nvSpPr>
        <p:spPr>
          <a:xfrm>
            <a:off x="6075759" y="3531513"/>
            <a:ext cx="392906" cy="392906"/>
          </a:xfrm>
          <a:prstGeom prst="roundRect">
            <a:avLst>
              <a:gd name="adj" fmla="val 23270415"/>
            </a:avLst>
          </a:prstGeom>
          <a:solidFill>
            <a:srgbClr val="FFBC8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3749" y="3639503"/>
            <a:ext cx="176808" cy="1768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68239" y="3714036"/>
            <a:ext cx="1950720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Mandatory Authentication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075759" y="4249936"/>
            <a:ext cx="7965281" cy="165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must authenticate before any access.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944791" y="4621768"/>
            <a:ext cx="8227219" cy="1145619"/>
          </a:xfrm>
          <a:prstGeom prst="roundRect">
            <a:avLst>
              <a:gd name="adj" fmla="val 1715"/>
            </a:avLst>
          </a:prstGeom>
          <a:solidFill>
            <a:srgbClr val="484B51"/>
          </a:solidFill>
          <a:ln/>
        </p:spPr>
      </p:sp>
      <p:sp>
        <p:nvSpPr>
          <p:cNvPr id="16" name="Shape 11"/>
          <p:cNvSpPr/>
          <p:nvPr/>
        </p:nvSpPr>
        <p:spPr>
          <a:xfrm>
            <a:off x="6075759" y="4752737"/>
            <a:ext cx="392906" cy="392906"/>
          </a:xfrm>
          <a:prstGeom prst="roundRect">
            <a:avLst>
              <a:gd name="adj" fmla="val 23270415"/>
            </a:avLst>
          </a:prstGeom>
          <a:solidFill>
            <a:srgbClr val="FFBC8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3749" y="4860727"/>
            <a:ext cx="176808" cy="1768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53761" y="4912400"/>
            <a:ext cx="1767840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 Plaintext Passwords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6075759" y="5471160"/>
            <a:ext cx="7965281" cy="165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sensitive credentials are securely hashed.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944791" y="5842992"/>
            <a:ext cx="8227219" cy="1145619"/>
          </a:xfrm>
          <a:prstGeom prst="roundRect">
            <a:avLst>
              <a:gd name="adj" fmla="val 1715"/>
            </a:avLst>
          </a:prstGeom>
          <a:solidFill>
            <a:srgbClr val="484B51"/>
          </a:solidFill>
          <a:ln/>
        </p:spPr>
      </p:sp>
      <p:sp>
        <p:nvSpPr>
          <p:cNvPr id="21" name="Shape 15"/>
          <p:cNvSpPr/>
          <p:nvPr/>
        </p:nvSpPr>
        <p:spPr>
          <a:xfrm>
            <a:off x="6075759" y="5973961"/>
            <a:ext cx="392906" cy="392906"/>
          </a:xfrm>
          <a:prstGeom prst="roundRect">
            <a:avLst>
              <a:gd name="adj" fmla="val 23270415"/>
            </a:avLst>
          </a:prstGeom>
          <a:solidFill>
            <a:srgbClr val="FFBC8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3749" y="6081951"/>
            <a:ext cx="176808" cy="1768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19430" y="6177319"/>
            <a:ext cx="1637467" cy="20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Modular Architecture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6147948" y="6633565"/>
            <a:ext cx="7965281" cy="165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maintainability and enhances security isolation.</a:t>
            </a:r>
            <a:endParaRPr lang="en-US" sz="2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FF3A6A4-F5C0-8191-8DCA-0D1602FFFE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36825" y="7606431"/>
            <a:ext cx="1686160" cy="47631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96A88FC-A73A-A7F2-47AD-0F245085CF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36825" y="7606430"/>
            <a:ext cx="1686160" cy="6231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419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1033" y="873443"/>
            <a:ext cx="7384030" cy="508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Our Robust Technology Stack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31257" y="1846755"/>
            <a:ext cx="8005524" cy="446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have carefully selected a technology stack that provides both power and security, ensuring our banking application is resilient against modern threats.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63379" y="3017642"/>
            <a:ext cx="5717143" cy="4682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Programming Language:</a:t>
            </a: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		Python for its versatility, extensive libraries, and strong community support in secure development practices.</a:t>
            </a:r>
            <a:b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endParaRPr lang="en-US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Implementation:</a:t>
            </a: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		SHA-256 hashing for all password storage, guaranteeing cryptographic strength.</a:t>
            </a:r>
            <a:b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endParaRPr lang="en-US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Configuration Management:</a:t>
            </a: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		</a:t>
            </a:r>
            <a:r>
              <a:rPr lang="en-US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Utilisation</a:t>
            </a: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</a:t>
            </a:r>
            <a:r>
              <a:rPr lang="en-US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files to manage sensitive configurations and environment variables securely.</a:t>
            </a:r>
            <a:b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endParaRPr lang="en-US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Framework:</a:t>
            </a: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		Python's built-in Unit Testing Framework for comprehensive verification of all modules and functionalities.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080522" y="5084444"/>
            <a:ext cx="3198257" cy="2732365"/>
          </a:xfrm>
          <a:prstGeom prst="roundRect">
            <a:avLst>
              <a:gd name="adj" fmla="val 893"/>
            </a:avLst>
          </a:prstGeom>
          <a:solidFill>
            <a:srgbClr val="FFBC8F"/>
          </a:solidFill>
          <a:ln/>
        </p:spPr>
      </p:sp>
      <p:sp>
        <p:nvSpPr>
          <p:cNvPr id="7" name="Shape 4"/>
          <p:cNvSpPr/>
          <p:nvPr/>
        </p:nvSpPr>
        <p:spPr>
          <a:xfrm>
            <a:off x="6243161" y="5215650"/>
            <a:ext cx="2872978" cy="2399197"/>
          </a:xfrm>
          <a:prstGeom prst="roundRect">
            <a:avLst>
              <a:gd name="adj" fmla="val 1188"/>
            </a:avLst>
          </a:prstGeom>
          <a:solidFill>
            <a:srgbClr val="4D1F0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801" y="5393054"/>
            <a:ext cx="254079" cy="203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2519" y="5372813"/>
            <a:ext cx="2033230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Python?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822519" y="5743573"/>
            <a:ext cx="2130981" cy="187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Python's clear syntax and robust ecosystem make it ideal for secure application development, allowing for efficient implementation of complex security protocols.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4971" y="448498"/>
            <a:ext cx="5950029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Layered System Diagrams: 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1394954" y="3343576"/>
            <a:ext cx="2846477" cy="344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Class Diagram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207908" y="2545231"/>
            <a:ext cx="3033593" cy="49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394954" y="2842728"/>
            <a:ext cx="2752252" cy="344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D4D4D1"/>
                </a:solidFill>
                <a:latin typeface="IBM Plex Sans Medium" pitchFamily="34" charset="0"/>
              </a:rPr>
              <a:t>Use Case Diagram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388470" y="4416762"/>
            <a:ext cx="2788948" cy="49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394954" y="3905830"/>
            <a:ext cx="2752252" cy="344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Architecture Diagram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207908" y="5383108"/>
            <a:ext cx="3033593" cy="49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94303" y="7208520"/>
            <a:ext cx="12441674" cy="517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2DA7E1-8B06-3E50-652E-06831B4A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825" y="7606431"/>
            <a:ext cx="1686160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E44CB4-D882-83B2-E3FA-A52906FA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825" y="7606430"/>
            <a:ext cx="1686160" cy="623169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AA05EA06-C669-438C-99E7-35E108C19FD1}"/>
              </a:ext>
            </a:extLst>
          </p:cNvPr>
          <p:cNvSpPr/>
          <p:nvPr/>
        </p:nvSpPr>
        <p:spPr>
          <a:xfrm>
            <a:off x="1394954" y="2285780"/>
            <a:ext cx="3811550" cy="90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D4D4D1"/>
                </a:solidFill>
                <a:latin typeface="IBM Plex Sans Medium" pitchFamily="34" charset="0"/>
              </a:rPr>
              <a:t>Activity Diagram</a:t>
            </a:r>
            <a:endParaRPr lang="en-US" sz="2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73CEB13-D1F5-0F80-AD7E-BD6DE1332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193" y="1459354"/>
            <a:ext cx="7841581" cy="66233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8840"/>
            <a:ext cx="11863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Core Modules: The Building Blocks of Security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124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Online Secure Bank is composed of several tightly integrated modules, each designed with security and efficiency in mind. These modules collectively ensure a secure and functional banking experience.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42203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342203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599497"/>
            <a:ext cx="29476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Authentication Module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08991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user login, session management, and access control.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342203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342203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599497"/>
            <a:ext cx="35274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Hashing &amp; Security Utilities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08991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all cryptographic operations for data protection.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342203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342203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599497"/>
            <a:ext cx="31361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Business Logic Handling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408991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core banking operations, like transfers and balance inquiries.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299829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310" y="5299829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2524" y="5557123"/>
            <a:ext cx="34781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Environment Configuration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2524" y="604754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secure handling of sensitive settings and variables.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5216962" y="5299829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6482" y="5299829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</p:sp>
      <p:sp>
        <p:nvSpPr>
          <p:cNvPr id="22" name="Text 20"/>
          <p:cNvSpPr/>
          <p:nvPr/>
        </p:nvSpPr>
        <p:spPr>
          <a:xfrm>
            <a:off x="5565696" y="5557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Testing Module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65696" y="6047542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Verifies the functionality and security of individual components.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06D6DF1-3730-9753-DE68-DF15AFFBA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825" y="7606431"/>
            <a:ext cx="1686160" cy="4763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0EE0CAA-5C58-5DB9-5FF6-B5380EA07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825" y="7606430"/>
            <a:ext cx="1686160" cy="6231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525" y="606147"/>
            <a:ext cx="1064419" cy="410289"/>
          </a:xfrm>
          <a:prstGeom prst="roundRect">
            <a:avLst>
              <a:gd name="adj" fmla="val 6447"/>
            </a:avLst>
          </a:prstGeom>
          <a:solidFill>
            <a:srgbClr val="4D1F00"/>
          </a:solidFill>
          <a:ln/>
        </p:spPr>
      </p:sp>
      <p:sp>
        <p:nvSpPr>
          <p:cNvPr id="3" name="Text 1"/>
          <p:cNvSpPr/>
          <p:nvPr/>
        </p:nvSpPr>
        <p:spPr>
          <a:xfrm>
            <a:off x="903684" y="672227"/>
            <a:ext cx="800100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1525" y="1102043"/>
            <a:ext cx="11030426" cy="688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STRIDE Threat Modeling: Proactive Defence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71525" y="2112288"/>
            <a:ext cx="13087350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STRIDE is a fundamental methodology used to identify and categorise potential security threats within our system. By systematically evaluating each threat category, we ensure comprehensive mitigation strategies are in place.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49066" y="3291721"/>
            <a:ext cx="2755463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Spoofing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71525" y="3764518"/>
            <a:ext cx="4033004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Preventing identity impersonation.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914" y="3048833"/>
            <a:ext cx="4580573" cy="4580573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8651" y="3785711"/>
            <a:ext cx="329803" cy="329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25871" y="3117771"/>
            <a:ext cx="2755463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Tampering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9825871" y="3590568"/>
            <a:ext cx="4033004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Protecting data from unauthorised modification.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914" y="3048833"/>
            <a:ext cx="4580573" cy="4580573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51827" y="3785711"/>
            <a:ext cx="329803" cy="3298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46375" y="4928711"/>
            <a:ext cx="2755463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Repudiation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10046375" y="5401508"/>
            <a:ext cx="3812500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Ensuring accountability for actions.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4914" y="3048833"/>
            <a:ext cx="4580573" cy="4580573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53475" y="5174218"/>
            <a:ext cx="329803" cy="32980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825871" y="6565821"/>
            <a:ext cx="2897029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Information Disclosure</a:t>
            </a:r>
            <a:endParaRPr lang="en-US" sz="2150" dirty="0"/>
          </a:p>
        </p:txBody>
      </p:sp>
      <p:sp>
        <p:nvSpPr>
          <p:cNvPr id="19" name="Text 11"/>
          <p:cNvSpPr/>
          <p:nvPr/>
        </p:nvSpPr>
        <p:spPr>
          <a:xfrm>
            <a:off x="9825871" y="7038618"/>
            <a:ext cx="4033004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Safeguarding sensitive information.</a:t>
            </a:r>
            <a:endParaRPr lang="en-US" sz="17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4914" y="3048833"/>
            <a:ext cx="4580573" cy="4580573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51827" y="6562606"/>
            <a:ext cx="329803" cy="32980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049066" y="6391989"/>
            <a:ext cx="2755463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Denial of Service</a:t>
            </a:r>
            <a:endParaRPr lang="en-US" sz="2150" dirty="0"/>
          </a:p>
        </p:txBody>
      </p:sp>
      <p:sp>
        <p:nvSpPr>
          <p:cNvPr id="23" name="Text 13"/>
          <p:cNvSpPr/>
          <p:nvPr/>
        </p:nvSpPr>
        <p:spPr>
          <a:xfrm>
            <a:off x="771525" y="6864787"/>
            <a:ext cx="4033004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Maintaining system availability and responsiveness.</a:t>
            </a:r>
            <a:endParaRPr lang="en-US" sz="17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4914" y="3048833"/>
            <a:ext cx="4580573" cy="4580573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48651" y="6562606"/>
            <a:ext cx="329803" cy="329803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828562" y="4754880"/>
            <a:ext cx="2755463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Elevation of Privilege</a:t>
            </a:r>
            <a:endParaRPr lang="en-US" sz="2150" dirty="0"/>
          </a:p>
        </p:txBody>
      </p:sp>
      <p:sp>
        <p:nvSpPr>
          <p:cNvPr id="27" name="Text 15"/>
          <p:cNvSpPr/>
          <p:nvPr/>
        </p:nvSpPr>
        <p:spPr>
          <a:xfrm>
            <a:off x="771525" y="5227677"/>
            <a:ext cx="3812500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Restricting unauthorised access rights.</a:t>
            </a:r>
            <a:endParaRPr lang="en-US" sz="17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24914" y="3048833"/>
            <a:ext cx="4580573" cy="4580573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7003" y="5174218"/>
            <a:ext cx="329803" cy="32980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72262D0-2D28-AFCD-775D-DF2E4CFACD0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836825" y="7606431"/>
            <a:ext cx="1686160" cy="4763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6994F93-02D8-3DF4-DB6C-5037B689805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836825" y="7606430"/>
            <a:ext cx="1686160" cy="6231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427" y="1274802"/>
            <a:ext cx="12485489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Results and 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53427" y="2188012"/>
            <a:ext cx="13123545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project successfully delivered a secure banking application, demonstrating the practical application of secure software development principles. We are confident this system meets stringent academic security goals and provides a robust foundation for future enhancements.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53427" y="3211711"/>
            <a:ext cx="4268153" cy="1937504"/>
          </a:xfrm>
          <a:prstGeom prst="roundRect">
            <a:avLst>
              <a:gd name="adj" fmla="val 5663"/>
            </a:avLst>
          </a:prstGeom>
          <a:solidFill>
            <a:srgbClr val="292C32"/>
          </a:solidFill>
          <a:ln/>
        </p:spPr>
      </p:sp>
      <p:sp>
        <p:nvSpPr>
          <p:cNvPr id="5" name="Shape 3"/>
          <p:cNvSpPr/>
          <p:nvPr/>
        </p:nvSpPr>
        <p:spPr>
          <a:xfrm>
            <a:off x="753427" y="3188851"/>
            <a:ext cx="4268153" cy="91440"/>
          </a:xfrm>
          <a:prstGeom prst="roundRect">
            <a:avLst>
              <a:gd name="adj" fmla="val 31200"/>
            </a:avLst>
          </a:prstGeom>
          <a:solidFill>
            <a:srgbClr val="FFBC8F"/>
          </a:solidFill>
          <a:ln/>
        </p:spPr>
      </p:sp>
      <p:sp>
        <p:nvSpPr>
          <p:cNvPr id="6" name="Shape 4"/>
          <p:cNvSpPr/>
          <p:nvPr/>
        </p:nvSpPr>
        <p:spPr>
          <a:xfrm>
            <a:off x="2602230" y="2926437"/>
            <a:ext cx="570548" cy="570548"/>
          </a:xfrm>
          <a:prstGeom prst="roundRect">
            <a:avLst>
              <a:gd name="adj" fmla="val 160267"/>
            </a:avLst>
          </a:prstGeom>
          <a:solidFill>
            <a:srgbClr val="FFBC8F"/>
          </a:solidFill>
          <a:ln/>
        </p:spPr>
      </p:sp>
      <p:sp>
        <p:nvSpPr>
          <p:cNvPr id="7" name="Text 5"/>
          <p:cNvSpPr/>
          <p:nvPr/>
        </p:nvSpPr>
        <p:spPr>
          <a:xfrm>
            <a:off x="2773442" y="3069074"/>
            <a:ext cx="22812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6430" y="3687128"/>
            <a:ext cx="384214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Secure Authentication Implemented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66430" y="4377095"/>
            <a:ext cx="3842147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Multi-factor authentication protocols are fully functional.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181005" y="3211711"/>
            <a:ext cx="4268272" cy="1937504"/>
          </a:xfrm>
          <a:prstGeom prst="roundRect">
            <a:avLst>
              <a:gd name="adj" fmla="val 5663"/>
            </a:avLst>
          </a:prstGeom>
          <a:solidFill>
            <a:srgbClr val="292C32"/>
          </a:solidFill>
          <a:ln/>
        </p:spPr>
      </p:sp>
      <p:sp>
        <p:nvSpPr>
          <p:cNvPr id="11" name="Shape 9"/>
          <p:cNvSpPr/>
          <p:nvPr/>
        </p:nvSpPr>
        <p:spPr>
          <a:xfrm>
            <a:off x="5181005" y="3188851"/>
            <a:ext cx="4268272" cy="91440"/>
          </a:xfrm>
          <a:prstGeom prst="roundRect">
            <a:avLst>
              <a:gd name="adj" fmla="val 31200"/>
            </a:avLst>
          </a:prstGeom>
          <a:solidFill>
            <a:srgbClr val="FFBC8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29807" y="2926437"/>
            <a:ext cx="570548" cy="570548"/>
          </a:xfrm>
          <a:prstGeom prst="roundRect">
            <a:avLst>
              <a:gd name="adj" fmla="val 160267"/>
            </a:avLst>
          </a:prstGeom>
          <a:solidFill>
            <a:srgbClr val="FFBC8F"/>
          </a:solidFill>
          <a:ln/>
        </p:spPr>
      </p:sp>
      <p:sp>
        <p:nvSpPr>
          <p:cNvPr id="13" name="Text 11"/>
          <p:cNvSpPr/>
          <p:nvPr/>
        </p:nvSpPr>
        <p:spPr>
          <a:xfrm>
            <a:off x="7201019" y="3069074"/>
            <a:ext cx="22812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94008" y="3687128"/>
            <a:ext cx="268140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Sensitive Data Protected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5394008" y="4079915"/>
            <a:ext cx="3842266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critical data is safeguarded through advanced hashing.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608701" y="3211711"/>
            <a:ext cx="4268153" cy="1937504"/>
          </a:xfrm>
          <a:prstGeom prst="roundRect">
            <a:avLst>
              <a:gd name="adj" fmla="val 5663"/>
            </a:avLst>
          </a:prstGeom>
          <a:solidFill>
            <a:srgbClr val="292C32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8701" y="3188851"/>
            <a:ext cx="4268153" cy="91440"/>
          </a:xfrm>
          <a:prstGeom prst="roundRect">
            <a:avLst>
              <a:gd name="adj" fmla="val 31200"/>
            </a:avLst>
          </a:prstGeom>
          <a:solidFill>
            <a:srgbClr val="FFBC8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57503" y="2926437"/>
            <a:ext cx="570548" cy="570548"/>
          </a:xfrm>
          <a:prstGeom prst="roundRect">
            <a:avLst>
              <a:gd name="adj" fmla="val 160267"/>
            </a:avLst>
          </a:prstGeom>
          <a:solidFill>
            <a:srgbClr val="FFBC8F"/>
          </a:solidFill>
          <a:ln/>
        </p:spPr>
      </p:sp>
      <p:sp>
        <p:nvSpPr>
          <p:cNvPr id="19" name="Text 17"/>
          <p:cNvSpPr/>
          <p:nvPr/>
        </p:nvSpPr>
        <p:spPr>
          <a:xfrm>
            <a:off x="11628715" y="3069074"/>
            <a:ext cx="22812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821704" y="3687128"/>
            <a:ext cx="279689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STRIDE Threats Mitigated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9821704" y="4079915"/>
            <a:ext cx="3842147" cy="55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strategies are in place to address all identified threats.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3427" y="5593913"/>
            <a:ext cx="6482001" cy="1360765"/>
          </a:xfrm>
          <a:prstGeom prst="roundRect">
            <a:avLst>
              <a:gd name="adj" fmla="val 8064"/>
            </a:avLst>
          </a:prstGeom>
          <a:solidFill>
            <a:srgbClr val="292C32"/>
          </a:solidFill>
          <a:ln/>
        </p:spPr>
      </p:sp>
      <p:sp>
        <p:nvSpPr>
          <p:cNvPr id="23" name="Shape 21"/>
          <p:cNvSpPr/>
          <p:nvPr/>
        </p:nvSpPr>
        <p:spPr>
          <a:xfrm>
            <a:off x="753427" y="5571053"/>
            <a:ext cx="6482001" cy="91440"/>
          </a:xfrm>
          <a:prstGeom prst="roundRect">
            <a:avLst>
              <a:gd name="adj" fmla="val 31200"/>
            </a:avLst>
          </a:prstGeom>
          <a:solidFill>
            <a:srgbClr val="FFBC8F"/>
          </a:solidFill>
          <a:ln/>
        </p:spPr>
      </p:sp>
      <p:sp>
        <p:nvSpPr>
          <p:cNvPr id="24" name="Shape 22"/>
          <p:cNvSpPr/>
          <p:nvPr/>
        </p:nvSpPr>
        <p:spPr>
          <a:xfrm>
            <a:off x="3709154" y="5308640"/>
            <a:ext cx="570548" cy="570548"/>
          </a:xfrm>
          <a:prstGeom prst="roundRect">
            <a:avLst>
              <a:gd name="adj" fmla="val 160267"/>
            </a:avLst>
          </a:prstGeom>
          <a:solidFill>
            <a:srgbClr val="FFBC8F"/>
          </a:solidFill>
          <a:ln/>
        </p:spPr>
      </p:sp>
      <p:sp>
        <p:nvSpPr>
          <p:cNvPr id="25" name="Text 23"/>
          <p:cNvSpPr/>
          <p:nvPr/>
        </p:nvSpPr>
        <p:spPr>
          <a:xfrm>
            <a:off x="3880366" y="5451277"/>
            <a:ext cx="22812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966430" y="6069330"/>
            <a:ext cx="333113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Unit Tests Passed Successfully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966430" y="6462117"/>
            <a:ext cx="6055995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Rigorous testing confirms system reliability and security.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394853" y="5593913"/>
            <a:ext cx="6482001" cy="1360765"/>
          </a:xfrm>
          <a:prstGeom prst="roundRect">
            <a:avLst>
              <a:gd name="adj" fmla="val 8064"/>
            </a:avLst>
          </a:prstGeom>
          <a:solidFill>
            <a:srgbClr val="292C32"/>
          </a:solidFill>
          <a:ln/>
        </p:spPr>
      </p:sp>
      <p:sp>
        <p:nvSpPr>
          <p:cNvPr id="29" name="Shape 27"/>
          <p:cNvSpPr/>
          <p:nvPr/>
        </p:nvSpPr>
        <p:spPr>
          <a:xfrm>
            <a:off x="7394853" y="5571053"/>
            <a:ext cx="6482001" cy="91440"/>
          </a:xfrm>
          <a:prstGeom prst="roundRect">
            <a:avLst>
              <a:gd name="adj" fmla="val 31200"/>
            </a:avLst>
          </a:prstGeom>
          <a:solidFill>
            <a:srgbClr val="FFBC8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50579" y="5308640"/>
            <a:ext cx="570548" cy="570548"/>
          </a:xfrm>
          <a:prstGeom prst="roundRect">
            <a:avLst>
              <a:gd name="adj" fmla="val 160267"/>
            </a:avLst>
          </a:prstGeom>
          <a:solidFill>
            <a:srgbClr val="FFBC8F"/>
          </a:solidFill>
          <a:ln/>
        </p:spPr>
      </p:sp>
      <p:sp>
        <p:nvSpPr>
          <p:cNvPr id="31" name="Text 29"/>
          <p:cNvSpPr/>
          <p:nvPr/>
        </p:nvSpPr>
        <p:spPr>
          <a:xfrm>
            <a:off x="10521791" y="5451277"/>
            <a:ext cx="22812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607856" y="6069330"/>
            <a:ext cx="375606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Academic Security Goals Achieved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7607856" y="6462117"/>
            <a:ext cx="6055995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fulfills all requirements for secure software development.</a:t>
            </a:r>
            <a:endParaRPr lang="en-US" sz="14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2E25024-4DD3-A787-7E85-7E5A48202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825" y="7606430"/>
            <a:ext cx="1686160" cy="5591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DA9E3D1-1AC9-A2A1-D5A2-A4EE665329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6A83ABA-82AA-D8CB-475D-9AD81BE636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D3CB5A-4057-C62C-88D2-2CC67FC62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632" y="7712242"/>
            <a:ext cx="1748589" cy="4677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D0F008-8684-5D08-0318-F29638AD7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875" b="90000" l="9804" r="90196">
                        <a14:foregroundMark x1="56046" y1="11000" x2="66503" y2="5000"/>
                        <a14:foregroundMark x1="66503" y1="5000" x2="71242" y2="3875"/>
                        <a14:foregroundMark x1="71242" y1="3875" x2="71242" y2="3875"/>
                        <a14:foregroundMark x1="90196" y1="15625" x2="90196" y2="15625"/>
                        <a14:foregroundMark x1="14216" y1="35125" x2="14216" y2="35125"/>
                        <a14:foregroundMark x1="10784" y1="35375" x2="10784" y2="35375"/>
                        <a14:foregroundMark x1="19281" y1="29875" x2="19281" y2="29875"/>
                        <a14:foregroundMark x1="57026" y1="48250" x2="57190" y2="41875"/>
                        <a14:foregroundMark x1="30882" y1="33750" x2="30882" y2="33750"/>
                        <a14:foregroundMark x1="33660" y1="32875" x2="33660" y2="32875"/>
                        <a14:foregroundMark x1="25327" y1="34250" x2="25327" y2="34250"/>
                        <a14:foregroundMark x1="27124" y1="34500" x2="27124" y2="34500"/>
                        <a14:foregroundMark x1="25327" y1="34250" x2="25327" y2="34250"/>
                        <a14:backgroundMark x1="58007" y1="82750" x2="58007" y2="82750"/>
                        <a14:backgroundMark x1="57026" y1="81000" x2="57026" y2="81000"/>
                        <a14:backgroundMark x1="55882" y1="81000" x2="55882" y2="81000"/>
                        <a14:backgroundMark x1="54902" y1="80625" x2="54902" y2="80625"/>
                        <a14:backgroundMark x1="57843" y1="82000" x2="57843" y2="82000"/>
                        <a14:backgroundMark x1="67484" y1="82250" x2="67484" y2="82250"/>
                        <a14:backgroundMark x1="67157" y1="76000" x2="67157" y2="76000"/>
                        <a14:backgroundMark x1="44935" y1="77750" x2="44935" y2="77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37280" y="1322472"/>
            <a:ext cx="3891546" cy="508698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34F052A-8316-446F-D6AD-A4FDD4E9F13C}"/>
              </a:ext>
            </a:extLst>
          </p:cNvPr>
          <p:cNvSpPr txBox="1">
            <a:spLocks/>
          </p:cNvSpPr>
          <p:nvPr/>
        </p:nvSpPr>
        <p:spPr>
          <a:xfrm>
            <a:off x="4389355" y="5925820"/>
            <a:ext cx="5003966" cy="14785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4286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733</Words>
  <Application>Microsoft Office PowerPoint</Application>
  <PresentationFormat>Custom</PresentationFormat>
  <Paragraphs>110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IBM Plex Sans Medium</vt:lpstr>
      <vt:lpstr>Roboto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Awais</dc:creator>
  <cp:lastModifiedBy>user</cp:lastModifiedBy>
  <cp:revision>13</cp:revision>
  <dcterms:created xsi:type="dcterms:W3CDTF">2026-01-28T04:19:57Z</dcterms:created>
  <dcterms:modified xsi:type="dcterms:W3CDTF">2026-02-04T03:38:29Z</dcterms:modified>
</cp:coreProperties>
</file>